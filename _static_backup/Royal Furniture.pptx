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Lora" panose="020B0604020202020204" charset="0"/>
      <p:regular r:id="rId11"/>
    </p:embeddedFont>
    <p:embeddedFont>
      <p:font typeface="Calibri" panose="020F0502020204030204" pitchFamily="34"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8E5"/>
    <a:srgbClr val="FFF5D9"/>
    <a:srgbClr val="FFFC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8" d="100"/>
          <a:sy n="58" d="100"/>
        </p:scale>
        <p:origin x="67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9604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hyperlink" Target="mailto:info@royalfurniture.com" TargetMode="External"/><Relationship Id="rId4" Type="http://schemas.openxmlformats.org/officeDocument/2006/relationships/hyperlink" Target="https://www.royalfurniture.com"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2324576"/>
            <a:ext cx="7468553" cy="971550"/>
          </a:xfrm>
          <a:prstGeom prst="rect">
            <a:avLst/>
          </a:prstGeom>
          <a:noFill/>
          <a:ln/>
        </p:spPr>
        <p:txBody>
          <a:bodyPr wrap="none" lIns="0" tIns="0" rIns="0" bIns="0" rtlCol="0" anchor="t"/>
          <a:lstStyle/>
          <a:p>
            <a:pPr marL="0" indent="0">
              <a:lnSpc>
                <a:spcPts val="7650"/>
              </a:lnSpc>
              <a:buNone/>
            </a:pPr>
            <a:r>
              <a:rPr lang="en-US" sz="7200" dirty="0">
                <a:solidFill>
                  <a:srgbClr val="38512F"/>
                </a:solidFill>
                <a:latin typeface="Lora" pitchFamily="34" charset="0"/>
                <a:ea typeface="Lora" pitchFamily="34" charset="-122"/>
                <a:cs typeface="Lora" pitchFamily="34" charset="-120"/>
              </a:rPr>
              <a:t>Introduction </a:t>
            </a:r>
            <a:endParaRPr lang="en-US" sz="7200" dirty="0"/>
          </a:p>
        </p:txBody>
      </p:sp>
      <p:sp>
        <p:nvSpPr>
          <p:cNvPr id="4" name="Text 1"/>
          <p:cNvSpPr/>
          <p:nvPr/>
        </p:nvSpPr>
        <p:spPr>
          <a:xfrm>
            <a:off x="837724" y="3655100"/>
            <a:ext cx="7468553" cy="383024"/>
          </a:xfrm>
          <a:prstGeom prst="rect">
            <a:avLst/>
          </a:prstGeom>
          <a:noFill/>
          <a:ln/>
        </p:spPr>
        <p:txBody>
          <a:bodyPr wrap="none" lIns="0" tIns="0" rIns="0" bIns="0" rtlCol="0" anchor="t"/>
          <a:lstStyle/>
          <a:p>
            <a:pPr marL="342900" indent="-342900">
              <a:lnSpc>
                <a:spcPts val="3000"/>
              </a:lnSpc>
              <a:buSzPct val="100000"/>
              <a:buChar char="•"/>
            </a:pPr>
            <a:r>
              <a:rPr lang="en-US" sz="2800" dirty="0">
                <a:solidFill>
                  <a:srgbClr val="3A3630"/>
                </a:solidFill>
                <a:latin typeface="Source Sans Pro" pitchFamily="34" charset="0"/>
                <a:ea typeface="Source Sans Pro" pitchFamily="34" charset="-122"/>
                <a:cs typeface="Source Sans Pro" pitchFamily="34" charset="-120"/>
              </a:rPr>
              <a:t>Name : Abdurrehman Narmawala</a:t>
            </a:r>
            <a:endParaRPr lang="en-US" sz="2800" dirty="0"/>
          </a:p>
        </p:txBody>
      </p:sp>
      <p:sp>
        <p:nvSpPr>
          <p:cNvPr id="5" name="Text 2"/>
          <p:cNvSpPr/>
          <p:nvPr/>
        </p:nvSpPr>
        <p:spPr>
          <a:xfrm>
            <a:off x="837724" y="4121825"/>
            <a:ext cx="7468553" cy="383024"/>
          </a:xfrm>
          <a:prstGeom prst="rect">
            <a:avLst/>
          </a:prstGeom>
          <a:noFill/>
          <a:ln/>
        </p:spPr>
        <p:txBody>
          <a:bodyPr wrap="none" lIns="0" tIns="0" rIns="0" bIns="0" rtlCol="0" anchor="t"/>
          <a:lstStyle/>
          <a:p>
            <a:pPr marL="342900" indent="-342900">
              <a:lnSpc>
                <a:spcPts val="3000"/>
              </a:lnSpc>
              <a:buSzPct val="100000"/>
              <a:buChar char="•"/>
            </a:pPr>
            <a:r>
              <a:rPr lang="en-US" sz="2800" dirty="0">
                <a:solidFill>
                  <a:srgbClr val="3A3630"/>
                </a:solidFill>
                <a:latin typeface="Source Sans Pro" pitchFamily="34" charset="0"/>
                <a:ea typeface="Source Sans Pro" pitchFamily="34" charset="-122"/>
                <a:cs typeface="Source Sans Pro" pitchFamily="34" charset="-120"/>
              </a:rPr>
              <a:t>Batch : B2</a:t>
            </a:r>
            <a:endParaRPr lang="en-US" sz="2800" dirty="0"/>
          </a:p>
        </p:txBody>
      </p:sp>
      <p:sp>
        <p:nvSpPr>
          <p:cNvPr id="6" name="Text 3"/>
          <p:cNvSpPr/>
          <p:nvPr/>
        </p:nvSpPr>
        <p:spPr>
          <a:xfrm>
            <a:off x="837724" y="4588550"/>
            <a:ext cx="7468553" cy="383024"/>
          </a:xfrm>
          <a:prstGeom prst="rect">
            <a:avLst/>
          </a:prstGeom>
          <a:noFill/>
          <a:ln/>
        </p:spPr>
        <p:txBody>
          <a:bodyPr wrap="none" lIns="0" tIns="0" rIns="0" bIns="0" rtlCol="0" anchor="t"/>
          <a:lstStyle/>
          <a:p>
            <a:pPr marL="342900" indent="-342900">
              <a:lnSpc>
                <a:spcPts val="3000"/>
              </a:lnSpc>
              <a:buSzPct val="100000"/>
              <a:buChar char="•"/>
            </a:pPr>
            <a:r>
              <a:rPr lang="en-US" sz="2800" dirty="0">
                <a:solidFill>
                  <a:srgbClr val="3A3630"/>
                </a:solidFill>
                <a:latin typeface="Source Sans Pro" pitchFamily="34" charset="0"/>
                <a:ea typeface="Source Sans Pro" pitchFamily="34" charset="-122"/>
                <a:cs typeface="Source Sans Pro" pitchFamily="34" charset="-120"/>
              </a:rPr>
              <a:t>Branch : CSE</a:t>
            </a:r>
            <a:endParaRPr lang="en-US" sz="2800" dirty="0"/>
          </a:p>
        </p:txBody>
      </p:sp>
      <p:sp>
        <p:nvSpPr>
          <p:cNvPr id="7" name="Text 4"/>
          <p:cNvSpPr/>
          <p:nvPr/>
        </p:nvSpPr>
        <p:spPr>
          <a:xfrm>
            <a:off x="837724" y="5055275"/>
            <a:ext cx="7468553" cy="383024"/>
          </a:xfrm>
          <a:prstGeom prst="rect">
            <a:avLst/>
          </a:prstGeom>
          <a:noFill/>
          <a:ln/>
        </p:spPr>
        <p:txBody>
          <a:bodyPr wrap="none" lIns="0" tIns="0" rIns="0" bIns="0" rtlCol="0" anchor="t"/>
          <a:lstStyle/>
          <a:p>
            <a:pPr marL="342900" indent="-342900">
              <a:lnSpc>
                <a:spcPts val="3000"/>
              </a:lnSpc>
              <a:buSzPct val="100000"/>
              <a:buChar char="•"/>
            </a:pPr>
            <a:r>
              <a:rPr lang="en-US" sz="2800" dirty="0">
                <a:solidFill>
                  <a:srgbClr val="3A3630"/>
                </a:solidFill>
                <a:latin typeface="Source Sans Pro" pitchFamily="34" charset="0"/>
                <a:ea typeface="Source Sans Pro" pitchFamily="34" charset="-122"/>
                <a:cs typeface="Source Sans Pro" pitchFamily="34" charset="-120"/>
              </a:rPr>
              <a:t>Enrollment No. : 23002171210076</a:t>
            </a:r>
            <a:endParaRPr lang="en-US" sz="2800" dirty="0"/>
          </a:p>
        </p:txBody>
      </p:sp>
      <p:sp>
        <p:nvSpPr>
          <p:cNvPr id="8" name="Text 5"/>
          <p:cNvSpPr/>
          <p:nvPr/>
        </p:nvSpPr>
        <p:spPr>
          <a:xfrm>
            <a:off x="837724" y="5522000"/>
            <a:ext cx="7468553" cy="383024"/>
          </a:xfrm>
          <a:prstGeom prst="rect">
            <a:avLst/>
          </a:prstGeom>
          <a:noFill/>
          <a:ln/>
        </p:spPr>
        <p:txBody>
          <a:bodyPr wrap="none" lIns="0" tIns="0" rIns="0" bIns="0" rtlCol="0" anchor="t"/>
          <a:lstStyle/>
          <a:p>
            <a:pPr marL="342900" indent="-342900">
              <a:lnSpc>
                <a:spcPts val="3000"/>
              </a:lnSpc>
              <a:buSzPct val="100000"/>
              <a:buChar char="•"/>
            </a:pPr>
            <a:r>
              <a:rPr lang="en-US" sz="2800" dirty="0">
                <a:solidFill>
                  <a:srgbClr val="3A3630"/>
                </a:solidFill>
                <a:latin typeface="Source Sans Pro" pitchFamily="34" charset="0"/>
                <a:ea typeface="Source Sans Pro" pitchFamily="34" charset="-122"/>
                <a:cs typeface="Source Sans Pro" pitchFamily="34" charset="-120"/>
              </a:rPr>
              <a:t>Roll No. : 66</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1823442"/>
            <a:ext cx="7468553" cy="1408033"/>
          </a:xfrm>
          <a:prstGeom prst="rect">
            <a:avLst/>
          </a:prstGeom>
          <a:noFill/>
          <a:ln/>
        </p:spPr>
        <p:txBody>
          <a:bodyPr wrap="square" lIns="0" tIns="0" rIns="0" bIns="0" rtlCol="0" anchor="t"/>
          <a:lstStyle/>
          <a:p>
            <a:pPr marL="0" indent="0">
              <a:lnSpc>
                <a:spcPts val="5500"/>
              </a:lnSpc>
              <a:buNone/>
            </a:pPr>
            <a:r>
              <a:rPr lang="en-US" sz="4400" dirty="0">
                <a:solidFill>
                  <a:srgbClr val="38512F"/>
                </a:solidFill>
                <a:latin typeface="Lora" pitchFamily="34" charset="0"/>
                <a:ea typeface="Lora" pitchFamily="34" charset="-122"/>
                <a:cs typeface="Lora" pitchFamily="34" charset="-120"/>
              </a:rPr>
              <a:t>Royal Furniture </a:t>
            </a:r>
            <a:endParaRPr lang="en-US" sz="4400" dirty="0" smtClean="0">
              <a:solidFill>
                <a:srgbClr val="38512F"/>
              </a:solidFill>
              <a:latin typeface="Lora" pitchFamily="34" charset="0"/>
              <a:ea typeface="Lora" pitchFamily="34" charset="-122"/>
              <a:cs typeface="Lora" pitchFamily="34" charset="-120"/>
            </a:endParaRPr>
          </a:p>
          <a:p>
            <a:pPr marL="0" indent="0">
              <a:lnSpc>
                <a:spcPts val="5500"/>
              </a:lnSpc>
              <a:buNone/>
            </a:pPr>
            <a:r>
              <a:rPr lang="en-US" sz="4400" dirty="0" smtClean="0">
                <a:solidFill>
                  <a:srgbClr val="38512F"/>
                </a:solidFill>
                <a:latin typeface="Lora" pitchFamily="34" charset="0"/>
                <a:ea typeface="Lora" pitchFamily="34" charset="-122"/>
                <a:cs typeface="Lora" pitchFamily="34" charset="-120"/>
              </a:rPr>
              <a:t>E-commerce </a:t>
            </a:r>
            <a:r>
              <a:rPr lang="en-US" sz="4400" dirty="0">
                <a:solidFill>
                  <a:srgbClr val="38512F"/>
                </a:solidFill>
                <a:latin typeface="Lora" pitchFamily="34" charset="0"/>
                <a:ea typeface="Lora" pitchFamily="34" charset="-122"/>
                <a:cs typeface="Lora" pitchFamily="34" charset="-120"/>
              </a:rPr>
              <a:t>Platform</a:t>
            </a:r>
            <a:endParaRPr lang="en-US" sz="4400" dirty="0"/>
          </a:p>
        </p:txBody>
      </p:sp>
      <p:sp>
        <p:nvSpPr>
          <p:cNvPr id="4" name="Text 1"/>
          <p:cNvSpPr/>
          <p:nvPr/>
        </p:nvSpPr>
        <p:spPr>
          <a:xfrm>
            <a:off x="6324124" y="3590449"/>
            <a:ext cx="7468553" cy="2815590"/>
          </a:xfrm>
          <a:prstGeom prst="rect">
            <a:avLst/>
          </a:prstGeom>
          <a:noFill/>
          <a:ln/>
        </p:spPr>
        <p:txBody>
          <a:bodyPr wrap="square" lIns="0" tIns="0" rIns="0" bIns="0" rtlCol="0" anchor="t"/>
          <a:lstStyle/>
          <a:p>
            <a:pPr marL="0" indent="0">
              <a:lnSpc>
                <a:spcPts val="2750"/>
              </a:lnSpc>
              <a:buNone/>
            </a:pPr>
            <a:r>
              <a:rPr lang="en-US" sz="2200" dirty="0">
                <a:solidFill>
                  <a:srgbClr val="38512F"/>
                </a:solidFill>
                <a:latin typeface="Lora" pitchFamily="34" charset="0"/>
                <a:ea typeface="Lora" pitchFamily="34" charset="-122"/>
                <a:cs typeface="Lora" pitchFamily="34" charset="-120"/>
              </a:rPr>
              <a:t>Welcome to Royal Furniture, where elegance meets convenience. We're revolutionizing the way you shop for furniture online, bringing style and comfort right to your doorstep. Our platform is designed to provide a seamless and enjoyable shopping experience, offering a wide range of high-quality furniture pieces for every room in your home. Join us as we transform your living spaces with our exquisite collection.</a:t>
            </a:r>
            <a:endParaRPr lang="en-US" sz="2200" dirty="0"/>
          </a:p>
        </p:txBody>
      </p:sp>
      <p:sp>
        <p:nvSpPr>
          <p:cNvPr id="5" name="Rectangle 4"/>
          <p:cNvSpPr/>
          <p:nvPr/>
        </p:nvSpPr>
        <p:spPr>
          <a:xfrm>
            <a:off x="12866586" y="7764087"/>
            <a:ext cx="1629295" cy="465513"/>
          </a:xfrm>
          <a:prstGeom prst="rect">
            <a:avLst/>
          </a:prstGeom>
          <a:solidFill>
            <a:srgbClr val="FFF8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64858" y="951548"/>
            <a:ext cx="5142071" cy="642699"/>
          </a:xfrm>
          <a:prstGeom prst="rect">
            <a:avLst/>
          </a:prstGeom>
          <a:noFill/>
          <a:ln/>
        </p:spPr>
        <p:txBody>
          <a:bodyPr wrap="none" lIns="0" tIns="0" rIns="0" bIns="0" rtlCol="0" anchor="t"/>
          <a:lstStyle/>
          <a:p>
            <a:pPr marL="0" indent="0">
              <a:lnSpc>
                <a:spcPts val="5050"/>
              </a:lnSpc>
              <a:buNone/>
            </a:pPr>
            <a:r>
              <a:rPr lang="en-US" sz="4000" dirty="0">
                <a:solidFill>
                  <a:srgbClr val="38512F"/>
                </a:solidFill>
                <a:latin typeface="Lora" pitchFamily="34" charset="0"/>
                <a:ea typeface="Lora" pitchFamily="34" charset="-122"/>
                <a:cs typeface="Lora" pitchFamily="34" charset="-120"/>
              </a:rPr>
              <a:t>Project Overview</a:t>
            </a:r>
            <a:endParaRPr lang="en-US" sz="4000" dirty="0"/>
          </a:p>
        </p:txBody>
      </p:sp>
      <p:sp>
        <p:nvSpPr>
          <p:cNvPr id="4" name="Shape 1"/>
          <p:cNvSpPr/>
          <p:nvPr/>
        </p:nvSpPr>
        <p:spPr>
          <a:xfrm>
            <a:off x="764858" y="2167771"/>
            <a:ext cx="491609" cy="491609"/>
          </a:xfrm>
          <a:prstGeom prst="roundRect">
            <a:avLst>
              <a:gd name="adj" fmla="val 6668"/>
            </a:avLst>
          </a:prstGeom>
          <a:solidFill>
            <a:srgbClr val="F3E7D4"/>
          </a:solidFill>
          <a:ln/>
        </p:spPr>
      </p:sp>
      <p:sp>
        <p:nvSpPr>
          <p:cNvPr id="5" name="Text 2"/>
          <p:cNvSpPr/>
          <p:nvPr/>
        </p:nvSpPr>
        <p:spPr>
          <a:xfrm>
            <a:off x="954524" y="2259330"/>
            <a:ext cx="112276" cy="308491"/>
          </a:xfrm>
          <a:prstGeom prst="rect">
            <a:avLst/>
          </a:prstGeom>
          <a:noFill/>
          <a:ln/>
        </p:spPr>
        <p:txBody>
          <a:bodyPr wrap="none" lIns="0" tIns="0" rIns="0" bIns="0" rtlCol="0" anchor="t"/>
          <a:lstStyle/>
          <a:p>
            <a:pPr marL="0" indent="0" algn="ctr">
              <a:lnSpc>
                <a:spcPts val="2400"/>
              </a:lnSpc>
              <a:buNone/>
            </a:pPr>
            <a:r>
              <a:rPr lang="en-US" sz="2400" dirty="0">
                <a:solidFill>
                  <a:srgbClr val="3A3630"/>
                </a:solidFill>
                <a:latin typeface="Lora" pitchFamily="34" charset="0"/>
                <a:ea typeface="Lora" pitchFamily="34" charset="-122"/>
                <a:cs typeface="Lora" pitchFamily="34" charset="-120"/>
              </a:rPr>
              <a:t>1</a:t>
            </a:r>
            <a:endParaRPr lang="en-US" sz="2400" dirty="0"/>
          </a:p>
        </p:txBody>
      </p:sp>
      <p:sp>
        <p:nvSpPr>
          <p:cNvPr id="6" name="Text 3"/>
          <p:cNvSpPr/>
          <p:nvPr/>
        </p:nvSpPr>
        <p:spPr>
          <a:xfrm>
            <a:off x="1474946" y="2167771"/>
            <a:ext cx="2571036" cy="321231"/>
          </a:xfrm>
          <a:prstGeom prst="rect">
            <a:avLst/>
          </a:prstGeom>
          <a:noFill/>
          <a:ln/>
        </p:spPr>
        <p:txBody>
          <a:bodyPr wrap="none" lIns="0" tIns="0" rIns="0" bIns="0" rtlCol="0" anchor="t"/>
          <a:lstStyle/>
          <a:p>
            <a:pPr marL="0" indent="0">
              <a:lnSpc>
                <a:spcPts val="2500"/>
              </a:lnSpc>
              <a:buNone/>
            </a:pPr>
            <a:r>
              <a:rPr lang="en-US" sz="2000" b="1" dirty="0">
                <a:solidFill>
                  <a:srgbClr val="3A3630"/>
                </a:solidFill>
                <a:latin typeface="Lora" pitchFamily="34" charset="0"/>
                <a:ea typeface="Lora" pitchFamily="34" charset="-122"/>
                <a:cs typeface="Lora" pitchFamily="34" charset="-120"/>
              </a:rPr>
              <a:t>Purpose</a:t>
            </a:r>
            <a:endParaRPr lang="en-US" sz="2000" b="1" dirty="0"/>
          </a:p>
        </p:txBody>
      </p:sp>
      <p:sp>
        <p:nvSpPr>
          <p:cNvPr id="7" name="Text 4"/>
          <p:cNvSpPr/>
          <p:nvPr/>
        </p:nvSpPr>
        <p:spPr>
          <a:xfrm>
            <a:off x="1474946" y="2620089"/>
            <a:ext cx="2987873" cy="1747838"/>
          </a:xfrm>
          <a:prstGeom prst="rect">
            <a:avLst/>
          </a:prstGeom>
          <a:noFill/>
          <a:ln/>
        </p:spPr>
        <p:txBody>
          <a:bodyPr wrap="square" lIns="0" tIns="0" rIns="0" bIns="0" rtlCol="0" anchor="t"/>
          <a:lstStyle/>
          <a:p>
            <a:pPr marL="0" indent="0">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Royal Furniture aims to provide an online platform for customers to easily browse and purchase furniture from the comfort of their homes.</a:t>
            </a:r>
            <a:endParaRPr lang="en-US" sz="1700" dirty="0"/>
          </a:p>
        </p:txBody>
      </p:sp>
      <p:sp>
        <p:nvSpPr>
          <p:cNvPr id="8" name="Shape 5"/>
          <p:cNvSpPr/>
          <p:nvPr/>
        </p:nvSpPr>
        <p:spPr>
          <a:xfrm>
            <a:off x="4681299" y="2167771"/>
            <a:ext cx="491609" cy="491609"/>
          </a:xfrm>
          <a:prstGeom prst="roundRect">
            <a:avLst>
              <a:gd name="adj" fmla="val 6668"/>
            </a:avLst>
          </a:prstGeom>
          <a:solidFill>
            <a:srgbClr val="F3E7D4"/>
          </a:solidFill>
          <a:ln/>
        </p:spPr>
      </p:sp>
      <p:sp>
        <p:nvSpPr>
          <p:cNvPr id="9" name="Text 6"/>
          <p:cNvSpPr/>
          <p:nvPr/>
        </p:nvSpPr>
        <p:spPr>
          <a:xfrm>
            <a:off x="4844296" y="2259330"/>
            <a:ext cx="165616" cy="308491"/>
          </a:xfrm>
          <a:prstGeom prst="rect">
            <a:avLst/>
          </a:prstGeom>
          <a:noFill/>
          <a:ln/>
        </p:spPr>
        <p:txBody>
          <a:bodyPr wrap="none" lIns="0" tIns="0" rIns="0" bIns="0" rtlCol="0" anchor="t"/>
          <a:lstStyle/>
          <a:p>
            <a:pPr marL="0" indent="0" algn="ctr">
              <a:lnSpc>
                <a:spcPts val="2400"/>
              </a:lnSpc>
              <a:buNone/>
            </a:pPr>
            <a:r>
              <a:rPr lang="en-US" sz="2400" dirty="0">
                <a:solidFill>
                  <a:srgbClr val="3A3630"/>
                </a:solidFill>
                <a:latin typeface="Lora" pitchFamily="34" charset="0"/>
                <a:ea typeface="Lora" pitchFamily="34" charset="-122"/>
                <a:cs typeface="Lora" pitchFamily="34" charset="-120"/>
              </a:rPr>
              <a:t>2</a:t>
            </a:r>
            <a:endParaRPr lang="en-US" sz="2400" dirty="0"/>
          </a:p>
        </p:txBody>
      </p:sp>
      <p:sp>
        <p:nvSpPr>
          <p:cNvPr id="10" name="Text 7"/>
          <p:cNvSpPr/>
          <p:nvPr/>
        </p:nvSpPr>
        <p:spPr>
          <a:xfrm>
            <a:off x="5391388" y="2167771"/>
            <a:ext cx="2571036" cy="321231"/>
          </a:xfrm>
          <a:prstGeom prst="rect">
            <a:avLst/>
          </a:prstGeom>
          <a:noFill/>
          <a:ln/>
        </p:spPr>
        <p:txBody>
          <a:bodyPr wrap="none" lIns="0" tIns="0" rIns="0" bIns="0" rtlCol="0" anchor="t"/>
          <a:lstStyle/>
          <a:p>
            <a:pPr marL="0" indent="0">
              <a:lnSpc>
                <a:spcPts val="2500"/>
              </a:lnSpc>
              <a:buNone/>
            </a:pPr>
            <a:r>
              <a:rPr lang="en-US" sz="2000" b="1" dirty="0">
                <a:solidFill>
                  <a:srgbClr val="3A3630"/>
                </a:solidFill>
                <a:latin typeface="Lora" pitchFamily="34" charset="0"/>
                <a:ea typeface="Lora" pitchFamily="34" charset="-122"/>
                <a:cs typeface="Lora" pitchFamily="34" charset="-120"/>
              </a:rPr>
              <a:t>Key Features</a:t>
            </a:r>
            <a:endParaRPr lang="en-US" sz="2000" b="1" dirty="0"/>
          </a:p>
        </p:txBody>
      </p:sp>
      <p:sp>
        <p:nvSpPr>
          <p:cNvPr id="11" name="Text 8"/>
          <p:cNvSpPr/>
          <p:nvPr/>
        </p:nvSpPr>
        <p:spPr>
          <a:xfrm>
            <a:off x="5391388" y="2620089"/>
            <a:ext cx="2987873" cy="1398270"/>
          </a:xfrm>
          <a:prstGeom prst="rect">
            <a:avLst/>
          </a:prstGeom>
          <a:noFill/>
          <a:ln/>
        </p:spPr>
        <p:txBody>
          <a:bodyPr wrap="square" lIns="0" tIns="0" rIns="0" bIns="0" rtlCol="0" anchor="t"/>
          <a:lstStyle/>
          <a:p>
            <a:pPr marL="0" indent="0">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Our platform includes an extensive product catalog, a user-friendly shopping cart, and a seamless checkout process.</a:t>
            </a:r>
            <a:endParaRPr lang="en-US" sz="1700" dirty="0"/>
          </a:p>
        </p:txBody>
      </p:sp>
      <p:sp>
        <p:nvSpPr>
          <p:cNvPr id="12" name="Shape 9"/>
          <p:cNvSpPr/>
          <p:nvPr/>
        </p:nvSpPr>
        <p:spPr>
          <a:xfrm>
            <a:off x="764858" y="4832152"/>
            <a:ext cx="491609" cy="491609"/>
          </a:xfrm>
          <a:prstGeom prst="roundRect">
            <a:avLst>
              <a:gd name="adj" fmla="val 6668"/>
            </a:avLst>
          </a:prstGeom>
          <a:solidFill>
            <a:srgbClr val="F3E7D4"/>
          </a:solidFill>
          <a:ln/>
        </p:spPr>
      </p:sp>
      <p:sp>
        <p:nvSpPr>
          <p:cNvPr id="13" name="Text 10"/>
          <p:cNvSpPr/>
          <p:nvPr/>
        </p:nvSpPr>
        <p:spPr>
          <a:xfrm>
            <a:off x="924758" y="4923711"/>
            <a:ext cx="171807" cy="308491"/>
          </a:xfrm>
          <a:prstGeom prst="rect">
            <a:avLst/>
          </a:prstGeom>
          <a:noFill/>
          <a:ln/>
        </p:spPr>
        <p:txBody>
          <a:bodyPr wrap="none" lIns="0" tIns="0" rIns="0" bIns="0" rtlCol="0" anchor="t"/>
          <a:lstStyle/>
          <a:p>
            <a:pPr marL="0" indent="0" algn="ctr">
              <a:lnSpc>
                <a:spcPts val="2400"/>
              </a:lnSpc>
              <a:buNone/>
            </a:pPr>
            <a:r>
              <a:rPr lang="en-US" sz="2400" dirty="0">
                <a:solidFill>
                  <a:srgbClr val="3A3630"/>
                </a:solidFill>
                <a:latin typeface="Lora" pitchFamily="34" charset="0"/>
                <a:ea typeface="Lora" pitchFamily="34" charset="-122"/>
                <a:cs typeface="Lora" pitchFamily="34" charset="-120"/>
              </a:rPr>
              <a:t>3</a:t>
            </a:r>
            <a:endParaRPr lang="en-US" sz="2400" dirty="0"/>
          </a:p>
        </p:txBody>
      </p:sp>
      <p:sp>
        <p:nvSpPr>
          <p:cNvPr id="14" name="Text 11"/>
          <p:cNvSpPr/>
          <p:nvPr/>
        </p:nvSpPr>
        <p:spPr>
          <a:xfrm>
            <a:off x="1474946" y="4832152"/>
            <a:ext cx="2571036" cy="321231"/>
          </a:xfrm>
          <a:prstGeom prst="rect">
            <a:avLst/>
          </a:prstGeom>
          <a:noFill/>
          <a:ln/>
        </p:spPr>
        <p:txBody>
          <a:bodyPr wrap="none" lIns="0" tIns="0" rIns="0" bIns="0" rtlCol="0" anchor="t"/>
          <a:lstStyle/>
          <a:p>
            <a:pPr marL="0" indent="0">
              <a:lnSpc>
                <a:spcPts val="2500"/>
              </a:lnSpc>
              <a:buNone/>
            </a:pPr>
            <a:r>
              <a:rPr lang="en-US" sz="2000" b="1" dirty="0">
                <a:solidFill>
                  <a:srgbClr val="3A3630"/>
                </a:solidFill>
                <a:latin typeface="Lora" pitchFamily="34" charset="0"/>
                <a:ea typeface="Lora" pitchFamily="34" charset="-122"/>
                <a:cs typeface="Lora" pitchFamily="34" charset="-120"/>
              </a:rPr>
              <a:t>Technologies</a:t>
            </a:r>
            <a:endParaRPr lang="en-US" sz="2000" b="1" dirty="0"/>
          </a:p>
        </p:txBody>
      </p:sp>
      <p:sp>
        <p:nvSpPr>
          <p:cNvPr id="15" name="Text 12"/>
          <p:cNvSpPr/>
          <p:nvPr/>
        </p:nvSpPr>
        <p:spPr>
          <a:xfrm>
            <a:off x="1474946" y="5284470"/>
            <a:ext cx="6904196" cy="699135"/>
          </a:xfrm>
          <a:prstGeom prst="rect">
            <a:avLst/>
          </a:prstGeom>
          <a:noFill/>
          <a:ln/>
        </p:spPr>
        <p:txBody>
          <a:bodyPr wrap="square" lIns="0" tIns="0" rIns="0" bIns="0" rtlCol="0" anchor="t"/>
          <a:lstStyle/>
          <a:p>
            <a:pPr marL="0" indent="0">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We utilize HTML, CSS, JavaScript, and Bootstrap to create a responsive and intuitive user interface, ensuring compatibility across all devices.</a:t>
            </a:r>
            <a:endParaRPr lang="en-US" sz="1700" dirty="0"/>
          </a:p>
        </p:txBody>
      </p:sp>
      <p:sp>
        <p:nvSpPr>
          <p:cNvPr id="16" name="Text 13"/>
          <p:cNvSpPr/>
          <p:nvPr/>
        </p:nvSpPr>
        <p:spPr>
          <a:xfrm>
            <a:off x="764976" y="6589872"/>
            <a:ext cx="7614285" cy="1048703"/>
          </a:xfrm>
          <a:prstGeom prst="rect">
            <a:avLst/>
          </a:prstGeom>
          <a:noFill/>
          <a:ln/>
        </p:spPr>
        <p:txBody>
          <a:bodyPr wrap="square" lIns="0" tIns="0" rIns="0" bIns="0" rtlCol="0" anchor="t"/>
          <a:lstStyle/>
          <a:p>
            <a:pPr marL="0" indent="0">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We believe that everyone deserves a beautiful home, and we're committed to making that a reality. Our furniture is crafted with care, using high-quality materials to ensure durability and style.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36996"/>
          </a:xfrm>
          <a:prstGeom prst="rect">
            <a:avLst/>
          </a:prstGeom>
        </p:spPr>
      </p:pic>
      <p:sp>
        <p:nvSpPr>
          <p:cNvPr id="3" name="Text 0"/>
          <p:cNvSpPr/>
          <p:nvPr/>
        </p:nvSpPr>
        <p:spPr>
          <a:xfrm>
            <a:off x="738307" y="3217069"/>
            <a:ext cx="4963716" cy="620435"/>
          </a:xfrm>
          <a:prstGeom prst="rect">
            <a:avLst/>
          </a:prstGeom>
          <a:noFill/>
          <a:ln/>
        </p:spPr>
        <p:txBody>
          <a:bodyPr wrap="none" lIns="0" tIns="0" rIns="0" bIns="0" rtlCol="0" anchor="t"/>
          <a:lstStyle/>
          <a:p>
            <a:pPr marL="0" indent="0">
              <a:lnSpc>
                <a:spcPts val="4850"/>
              </a:lnSpc>
              <a:buNone/>
            </a:pPr>
            <a:r>
              <a:rPr lang="en-US" sz="3900" dirty="0">
                <a:solidFill>
                  <a:srgbClr val="38512F"/>
                </a:solidFill>
                <a:latin typeface="Lora" pitchFamily="34" charset="0"/>
                <a:ea typeface="Lora" pitchFamily="34" charset="-122"/>
                <a:cs typeface="Lora" pitchFamily="34" charset="-120"/>
              </a:rPr>
              <a:t>How It Works</a:t>
            </a:r>
            <a:endParaRPr lang="en-US" sz="3900" dirty="0"/>
          </a:p>
        </p:txBody>
      </p:sp>
      <p:pic>
        <p:nvPicPr>
          <p:cNvPr id="4" name="Image 1" descr="preencoded.png"/>
          <p:cNvPicPr>
            <a:picLocks noChangeAspect="1"/>
          </p:cNvPicPr>
          <p:nvPr/>
        </p:nvPicPr>
        <p:blipFill>
          <a:blip r:embed="rId4"/>
          <a:stretch>
            <a:fillRect/>
          </a:stretch>
        </p:blipFill>
        <p:spPr>
          <a:xfrm>
            <a:off x="738307" y="4153853"/>
            <a:ext cx="3288387" cy="843796"/>
          </a:xfrm>
          <a:prstGeom prst="rect">
            <a:avLst/>
          </a:prstGeom>
        </p:spPr>
      </p:pic>
      <p:sp>
        <p:nvSpPr>
          <p:cNvPr id="5" name="Text 1"/>
          <p:cNvSpPr/>
          <p:nvPr/>
        </p:nvSpPr>
        <p:spPr>
          <a:xfrm>
            <a:off x="949166" y="5313998"/>
            <a:ext cx="2481858" cy="310277"/>
          </a:xfrm>
          <a:prstGeom prst="rect">
            <a:avLst/>
          </a:prstGeom>
          <a:noFill/>
          <a:ln/>
        </p:spPr>
        <p:txBody>
          <a:bodyPr wrap="none" lIns="0" tIns="0" rIns="0" bIns="0" rtlCol="0" anchor="t"/>
          <a:lstStyle/>
          <a:p>
            <a:pPr marL="0" indent="0" algn="l">
              <a:lnSpc>
                <a:spcPts val="2400"/>
              </a:lnSpc>
              <a:buNone/>
            </a:pPr>
            <a:r>
              <a:rPr lang="en-US" sz="1950" b="1" dirty="0">
                <a:solidFill>
                  <a:srgbClr val="3A3630"/>
                </a:solidFill>
                <a:latin typeface="Lora" pitchFamily="34" charset="0"/>
                <a:ea typeface="Lora" pitchFamily="34" charset="-122"/>
                <a:cs typeface="Lora" pitchFamily="34" charset="-120"/>
              </a:rPr>
              <a:t>Browse</a:t>
            </a:r>
            <a:endParaRPr lang="en-US" sz="1950" b="1" dirty="0"/>
          </a:p>
        </p:txBody>
      </p:sp>
      <p:sp>
        <p:nvSpPr>
          <p:cNvPr id="6" name="Text 2"/>
          <p:cNvSpPr/>
          <p:nvPr/>
        </p:nvSpPr>
        <p:spPr>
          <a:xfrm>
            <a:off x="949166" y="5750838"/>
            <a:ext cx="2866668" cy="1350169"/>
          </a:xfrm>
          <a:prstGeom prst="rect">
            <a:avLst/>
          </a:prstGeom>
          <a:noFill/>
          <a:ln/>
        </p:spPr>
        <p:txBody>
          <a:bodyPr wrap="square" lIns="0" tIns="0" rIns="0" bIns="0" rtlCol="0" anchor="t"/>
          <a:lstStyle/>
          <a:p>
            <a:pPr marL="0" indent="0" algn="l">
              <a:lnSpc>
                <a:spcPts val="2650"/>
              </a:lnSpc>
              <a:buNone/>
            </a:pPr>
            <a:r>
              <a:rPr lang="en-US" sz="1650" dirty="0">
                <a:solidFill>
                  <a:srgbClr val="3A3630"/>
                </a:solidFill>
                <a:latin typeface="Source Sans Pro" pitchFamily="34" charset="0"/>
                <a:ea typeface="Source Sans Pro" pitchFamily="34" charset="-122"/>
                <a:cs typeface="Source Sans Pro" pitchFamily="34" charset="-120"/>
              </a:rPr>
              <a:t>Users can explore our wide range of furniture items, complete with detailed product images, descriptions, and prices.</a:t>
            </a:r>
            <a:endParaRPr lang="en-US" sz="1650" dirty="0"/>
          </a:p>
        </p:txBody>
      </p:sp>
      <p:pic>
        <p:nvPicPr>
          <p:cNvPr id="7" name="Image 2" descr="preencoded.png"/>
          <p:cNvPicPr>
            <a:picLocks noChangeAspect="1"/>
          </p:cNvPicPr>
          <p:nvPr/>
        </p:nvPicPr>
        <p:blipFill>
          <a:blip r:embed="rId5"/>
          <a:stretch>
            <a:fillRect/>
          </a:stretch>
        </p:blipFill>
        <p:spPr>
          <a:xfrm>
            <a:off x="4026694" y="4153853"/>
            <a:ext cx="3288506" cy="843796"/>
          </a:xfrm>
          <a:prstGeom prst="rect">
            <a:avLst/>
          </a:prstGeom>
        </p:spPr>
      </p:pic>
      <p:sp>
        <p:nvSpPr>
          <p:cNvPr id="8" name="Text 3"/>
          <p:cNvSpPr/>
          <p:nvPr/>
        </p:nvSpPr>
        <p:spPr>
          <a:xfrm>
            <a:off x="4237553" y="5313998"/>
            <a:ext cx="2481858" cy="310277"/>
          </a:xfrm>
          <a:prstGeom prst="rect">
            <a:avLst/>
          </a:prstGeom>
          <a:noFill/>
          <a:ln/>
        </p:spPr>
        <p:txBody>
          <a:bodyPr wrap="none" lIns="0" tIns="0" rIns="0" bIns="0" rtlCol="0" anchor="t"/>
          <a:lstStyle/>
          <a:p>
            <a:pPr marL="0" indent="0" algn="l">
              <a:lnSpc>
                <a:spcPts val="2400"/>
              </a:lnSpc>
              <a:buNone/>
            </a:pPr>
            <a:r>
              <a:rPr lang="en-US" sz="1950" b="1" dirty="0">
                <a:solidFill>
                  <a:srgbClr val="3A3630"/>
                </a:solidFill>
                <a:latin typeface="Lora" pitchFamily="34" charset="0"/>
                <a:ea typeface="Lora" pitchFamily="34" charset="-122"/>
                <a:cs typeface="Lora" pitchFamily="34" charset="-120"/>
              </a:rPr>
              <a:t>Search</a:t>
            </a:r>
            <a:endParaRPr lang="en-US" sz="1950" b="1" dirty="0"/>
          </a:p>
        </p:txBody>
      </p:sp>
      <p:sp>
        <p:nvSpPr>
          <p:cNvPr id="9" name="Text 4"/>
          <p:cNvSpPr/>
          <p:nvPr/>
        </p:nvSpPr>
        <p:spPr>
          <a:xfrm>
            <a:off x="4237553" y="5750838"/>
            <a:ext cx="2866787" cy="1350169"/>
          </a:xfrm>
          <a:prstGeom prst="rect">
            <a:avLst/>
          </a:prstGeom>
          <a:noFill/>
          <a:ln/>
        </p:spPr>
        <p:txBody>
          <a:bodyPr wrap="square" lIns="0" tIns="0" rIns="0" bIns="0" rtlCol="0" anchor="t"/>
          <a:lstStyle/>
          <a:p>
            <a:pPr marL="0" indent="0" algn="l">
              <a:lnSpc>
                <a:spcPts val="2650"/>
              </a:lnSpc>
              <a:buNone/>
            </a:pPr>
            <a:r>
              <a:rPr lang="en-US" sz="1650" dirty="0">
                <a:solidFill>
                  <a:srgbClr val="3A3630"/>
                </a:solidFill>
                <a:latin typeface="Source Sans Pro" pitchFamily="34" charset="0"/>
                <a:ea typeface="Source Sans Pro" pitchFamily="34" charset="-122"/>
                <a:cs typeface="Source Sans Pro" pitchFamily="34" charset="-120"/>
              </a:rPr>
              <a:t>Our powerful search feature enables customers to quickly find specific products based on keywords or categories.</a:t>
            </a:r>
            <a:endParaRPr lang="en-US" sz="1650" dirty="0"/>
          </a:p>
        </p:txBody>
      </p:sp>
      <p:pic>
        <p:nvPicPr>
          <p:cNvPr id="10" name="Image 3" descr="preencoded.png"/>
          <p:cNvPicPr>
            <a:picLocks noChangeAspect="1"/>
          </p:cNvPicPr>
          <p:nvPr/>
        </p:nvPicPr>
        <p:blipFill>
          <a:blip r:embed="rId6"/>
          <a:stretch>
            <a:fillRect/>
          </a:stretch>
        </p:blipFill>
        <p:spPr>
          <a:xfrm>
            <a:off x="7315200" y="4153853"/>
            <a:ext cx="3288387" cy="843796"/>
          </a:xfrm>
          <a:prstGeom prst="rect">
            <a:avLst/>
          </a:prstGeom>
        </p:spPr>
      </p:pic>
      <p:sp>
        <p:nvSpPr>
          <p:cNvPr id="11" name="Text 5"/>
          <p:cNvSpPr/>
          <p:nvPr/>
        </p:nvSpPr>
        <p:spPr>
          <a:xfrm>
            <a:off x="7526060" y="5313998"/>
            <a:ext cx="2481858" cy="310277"/>
          </a:xfrm>
          <a:prstGeom prst="rect">
            <a:avLst/>
          </a:prstGeom>
          <a:noFill/>
          <a:ln/>
        </p:spPr>
        <p:txBody>
          <a:bodyPr wrap="none" lIns="0" tIns="0" rIns="0" bIns="0" rtlCol="0" anchor="t"/>
          <a:lstStyle/>
          <a:p>
            <a:pPr marL="0" indent="0" algn="l">
              <a:lnSpc>
                <a:spcPts val="2400"/>
              </a:lnSpc>
              <a:buNone/>
            </a:pPr>
            <a:r>
              <a:rPr lang="en-US" sz="1950" b="1" dirty="0" smtClean="0">
                <a:solidFill>
                  <a:srgbClr val="3A3630"/>
                </a:solidFill>
                <a:latin typeface="Lora" pitchFamily="34" charset="0"/>
                <a:ea typeface="Lora" pitchFamily="34" charset="-122"/>
                <a:cs typeface="Lora" pitchFamily="34" charset="-120"/>
              </a:rPr>
              <a:t>Add to Cart</a:t>
            </a:r>
            <a:endParaRPr lang="en-US" sz="1950" b="1" dirty="0"/>
          </a:p>
        </p:txBody>
      </p:sp>
      <p:sp>
        <p:nvSpPr>
          <p:cNvPr id="12" name="Text 6"/>
          <p:cNvSpPr/>
          <p:nvPr/>
        </p:nvSpPr>
        <p:spPr>
          <a:xfrm>
            <a:off x="7526060" y="5750838"/>
            <a:ext cx="2866668" cy="1350169"/>
          </a:xfrm>
          <a:prstGeom prst="rect">
            <a:avLst/>
          </a:prstGeom>
          <a:noFill/>
          <a:ln/>
        </p:spPr>
        <p:txBody>
          <a:bodyPr wrap="square" lIns="0" tIns="0" rIns="0" bIns="0" rtlCol="0" anchor="t"/>
          <a:lstStyle/>
          <a:p>
            <a:pPr marL="0" indent="0" algn="l">
              <a:lnSpc>
                <a:spcPts val="2650"/>
              </a:lnSpc>
              <a:buNone/>
            </a:pPr>
            <a:r>
              <a:rPr lang="en-US" sz="1650" dirty="0">
                <a:solidFill>
                  <a:srgbClr val="3A3630"/>
                </a:solidFill>
                <a:latin typeface="Source Sans Pro" pitchFamily="34" charset="0"/>
                <a:ea typeface="Source Sans Pro" pitchFamily="34" charset="-122"/>
                <a:cs typeface="Source Sans Pro" pitchFamily="34" charset="-120"/>
              </a:rPr>
              <a:t>With a simple click of the 'Add to Cart' button, users can easily select and save their desired items for purchase.</a:t>
            </a:r>
            <a:endParaRPr lang="en-US" sz="1650" dirty="0"/>
          </a:p>
        </p:txBody>
      </p:sp>
      <p:pic>
        <p:nvPicPr>
          <p:cNvPr id="13" name="Image 4" descr="preencoded.png"/>
          <p:cNvPicPr>
            <a:picLocks noChangeAspect="1"/>
          </p:cNvPicPr>
          <p:nvPr/>
        </p:nvPicPr>
        <p:blipFill>
          <a:blip r:embed="rId7"/>
          <a:stretch>
            <a:fillRect/>
          </a:stretch>
        </p:blipFill>
        <p:spPr>
          <a:xfrm>
            <a:off x="10603587" y="4153853"/>
            <a:ext cx="3288506" cy="843796"/>
          </a:xfrm>
          <a:prstGeom prst="rect">
            <a:avLst/>
          </a:prstGeom>
        </p:spPr>
      </p:pic>
      <p:sp>
        <p:nvSpPr>
          <p:cNvPr id="14" name="Text 7"/>
          <p:cNvSpPr/>
          <p:nvPr/>
        </p:nvSpPr>
        <p:spPr>
          <a:xfrm>
            <a:off x="10814447" y="5313998"/>
            <a:ext cx="2481858" cy="310277"/>
          </a:xfrm>
          <a:prstGeom prst="rect">
            <a:avLst/>
          </a:prstGeom>
          <a:noFill/>
          <a:ln/>
        </p:spPr>
        <p:txBody>
          <a:bodyPr wrap="none" lIns="0" tIns="0" rIns="0" bIns="0" rtlCol="0" anchor="t"/>
          <a:lstStyle/>
          <a:p>
            <a:pPr marL="0" indent="0" algn="l">
              <a:lnSpc>
                <a:spcPts val="2400"/>
              </a:lnSpc>
              <a:buNone/>
            </a:pPr>
            <a:r>
              <a:rPr lang="en-US" sz="1950" b="1" dirty="0">
                <a:solidFill>
                  <a:srgbClr val="3A3630"/>
                </a:solidFill>
                <a:latin typeface="Lora" pitchFamily="34" charset="0"/>
                <a:ea typeface="Lora" pitchFamily="34" charset="-122"/>
                <a:cs typeface="Lora" pitchFamily="34" charset="-120"/>
              </a:rPr>
              <a:t>Secure Storage</a:t>
            </a:r>
            <a:endParaRPr lang="en-US" sz="1950" b="1" dirty="0"/>
          </a:p>
        </p:txBody>
      </p:sp>
      <p:sp>
        <p:nvSpPr>
          <p:cNvPr id="15" name="Text 8"/>
          <p:cNvSpPr/>
          <p:nvPr/>
        </p:nvSpPr>
        <p:spPr>
          <a:xfrm>
            <a:off x="10814447" y="5750838"/>
            <a:ext cx="2866787" cy="1687711"/>
          </a:xfrm>
          <a:prstGeom prst="rect">
            <a:avLst/>
          </a:prstGeom>
          <a:noFill/>
          <a:ln/>
        </p:spPr>
        <p:txBody>
          <a:bodyPr wrap="square" lIns="0" tIns="0" rIns="0" bIns="0" rtlCol="0" anchor="t"/>
          <a:lstStyle/>
          <a:p>
            <a:pPr marL="0" indent="0" algn="l">
              <a:lnSpc>
                <a:spcPts val="2650"/>
              </a:lnSpc>
              <a:buNone/>
            </a:pPr>
            <a:r>
              <a:rPr lang="en-US" sz="1650" dirty="0">
                <a:solidFill>
                  <a:srgbClr val="3A3630"/>
                </a:solidFill>
                <a:latin typeface="Source Sans Pro" pitchFamily="34" charset="0"/>
                <a:ea typeface="Source Sans Pro" pitchFamily="34" charset="-122"/>
                <a:cs typeface="Source Sans Pro" pitchFamily="34" charset="-120"/>
              </a:rPr>
              <a:t>The shopping cart securely stores selected products using localStorage, ensuring a seamless and uninterrupted shopping experience.</a:t>
            </a:r>
            <a:endParaRPr lang="en-US" sz="1650" dirty="0"/>
          </a:p>
        </p:txBody>
      </p:sp>
      <p:sp>
        <p:nvSpPr>
          <p:cNvPr id="17" name="Rectangle 16"/>
          <p:cNvSpPr/>
          <p:nvPr/>
        </p:nvSpPr>
        <p:spPr>
          <a:xfrm>
            <a:off x="12866586" y="7764087"/>
            <a:ext cx="1629295" cy="465513"/>
          </a:xfrm>
          <a:prstGeom prst="rect">
            <a:avLst/>
          </a:prstGeom>
          <a:solidFill>
            <a:srgbClr val="FFF8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60333" y="771049"/>
            <a:ext cx="5241250" cy="638889"/>
          </a:xfrm>
          <a:prstGeom prst="rect">
            <a:avLst/>
          </a:prstGeom>
          <a:noFill/>
          <a:ln/>
        </p:spPr>
        <p:txBody>
          <a:bodyPr wrap="none" lIns="0" tIns="0" rIns="0" bIns="0" rtlCol="0" anchor="t"/>
          <a:lstStyle/>
          <a:p>
            <a:pPr marL="0" indent="0">
              <a:lnSpc>
                <a:spcPts val="5000"/>
              </a:lnSpc>
              <a:buNone/>
            </a:pPr>
            <a:r>
              <a:rPr lang="en-US" sz="4000" dirty="0">
                <a:solidFill>
                  <a:srgbClr val="38512F"/>
                </a:solidFill>
                <a:latin typeface="Lora" pitchFamily="34" charset="0"/>
                <a:ea typeface="Lora" pitchFamily="34" charset="-122"/>
                <a:cs typeface="Lora" pitchFamily="34" charset="-120"/>
              </a:rPr>
              <a:t>Future Enhancements</a:t>
            </a:r>
            <a:endParaRPr lang="en-US" sz="4000" dirty="0"/>
          </a:p>
        </p:txBody>
      </p:sp>
      <p:pic>
        <p:nvPicPr>
          <p:cNvPr id="4" name="Image 1" descr="preencoded.png"/>
          <p:cNvPicPr>
            <a:picLocks noChangeAspect="1"/>
          </p:cNvPicPr>
          <p:nvPr/>
        </p:nvPicPr>
        <p:blipFill>
          <a:blip r:embed="rId4"/>
          <a:stretch>
            <a:fillRect/>
          </a:stretch>
        </p:blipFill>
        <p:spPr>
          <a:xfrm>
            <a:off x="2258735" y="1735812"/>
            <a:ext cx="651748" cy="651748"/>
          </a:xfrm>
          <a:prstGeom prst="rect">
            <a:avLst/>
          </a:prstGeom>
        </p:spPr>
      </p:pic>
      <p:sp>
        <p:nvSpPr>
          <p:cNvPr id="5" name="Text 1"/>
          <p:cNvSpPr/>
          <p:nvPr/>
        </p:nvSpPr>
        <p:spPr>
          <a:xfrm>
            <a:off x="1306711" y="2604730"/>
            <a:ext cx="2555915" cy="319445"/>
          </a:xfrm>
          <a:prstGeom prst="rect">
            <a:avLst/>
          </a:prstGeom>
          <a:noFill/>
          <a:ln/>
        </p:spPr>
        <p:txBody>
          <a:bodyPr wrap="none" lIns="0" tIns="0" rIns="0" bIns="0" rtlCol="0" anchor="t"/>
          <a:lstStyle/>
          <a:p>
            <a:pPr marL="0" indent="0" algn="ctr">
              <a:lnSpc>
                <a:spcPts val="2500"/>
              </a:lnSpc>
              <a:buNone/>
            </a:pPr>
            <a:r>
              <a:rPr lang="en-US" sz="2000" b="1" dirty="0">
                <a:solidFill>
                  <a:srgbClr val="3A3630"/>
                </a:solidFill>
                <a:latin typeface="Lora" pitchFamily="34" charset="0"/>
                <a:ea typeface="Lora" pitchFamily="34" charset="-122"/>
                <a:cs typeface="Lora" pitchFamily="34" charset="-120"/>
              </a:rPr>
              <a:t>User Authentication</a:t>
            </a:r>
            <a:endParaRPr lang="en-US" sz="2000" b="1" dirty="0"/>
          </a:p>
        </p:txBody>
      </p:sp>
      <p:sp>
        <p:nvSpPr>
          <p:cNvPr id="6" name="Text 2"/>
          <p:cNvSpPr/>
          <p:nvPr/>
        </p:nvSpPr>
        <p:spPr>
          <a:xfrm>
            <a:off x="760333" y="3054429"/>
            <a:ext cx="3648670" cy="1042988"/>
          </a:xfrm>
          <a:prstGeom prst="rect">
            <a:avLst/>
          </a:prstGeom>
          <a:noFill/>
          <a:ln/>
        </p:spPr>
        <p:txBody>
          <a:bodyPr wrap="square" lIns="0" tIns="0" rIns="0" bIns="0" rtlCol="0" anchor="t"/>
          <a:lstStyle/>
          <a:p>
            <a:pPr marL="0" indent="0" algn="ctr">
              <a:lnSpc>
                <a:spcPts val="2700"/>
              </a:lnSpc>
              <a:buNone/>
            </a:pPr>
            <a:r>
              <a:rPr lang="en-US" sz="1700" dirty="0">
                <a:solidFill>
                  <a:srgbClr val="3A3630"/>
                </a:solidFill>
                <a:latin typeface="Source Sans Pro" pitchFamily="34" charset="0"/>
                <a:ea typeface="Source Sans Pro" pitchFamily="34" charset="-122"/>
                <a:cs typeface="Source Sans Pro" pitchFamily="34" charset="-120"/>
              </a:rPr>
              <a:t>Implementing user authentication to provide personalized experiences, such as saved preferences and order history.</a:t>
            </a:r>
            <a:endParaRPr lang="en-US" sz="1700" dirty="0"/>
          </a:p>
        </p:txBody>
      </p:sp>
      <p:pic>
        <p:nvPicPr>
          <p:cNvPr id="7" name="Image 2" descr="preencoded.png"/>
          <p:cNvPicPr>
            <a:picLocks noChangeAspect="1"/>
          </p:cNvPicPr>
          <p:nvPr/>
        </p:nvPicPr>
        <p:blipFill>
          <a:blip r:embed="rId5"/>
          <a:stretch>
            <a:fillRect/>
          </a:stretch>
        </p:blipFill>
        <p:spPr>
          <a:xfrm>
            <a:off x="6233398" y="1735812"/>
            <a:ext cx="651748" cy="651748"/>
          </a:xfrm>
          <a:prstGeom prst="rect">
            <a:avLst/>
          </a:prstGeom>
        </p:spPr>
      </p:pic>
      <p:sp>
        <p:nvSpPr>
          <p:cNvPr id="8" name="Text 3"/>
          <p:cNvSpPr/>
          <p:nvPr/>
        </p:nvSpPr>
        <p:spPr>
          <a:xfrm>
            <a:off x="5281255" y="2604730"/>
            <a:ext cx="2555915" cy="319445"/>
          </a:xfrm>
          <a:prstGeom prst="rect">
            <a:avLst/>
          </a:prstGeom>
          <a:noFill/>
          <a:ln/>
        </p:spPr>
        <p:txBody>
          <a:bodyPr wrap="none" lIns="0" tIns="0" rIns="0" bIns="0" rtlCol="0" anchor="t"/>
          <a:lstStyle/>
          <a:p>
            <a:pPr marL="0" indent="0" algn="ctr">
              <a:lnSpc>
                <a:spcPts val="2500"/>
              </a:lnSpc>
              <a:buNone/>
            </a:pPr>
            <a:r>
              <a:rPr lang="en-US" sz="2000" b="1" dirty="0">
                <a:solidFill>
                  <a:srgbClr val="3A3630"/>
                </a:solidFill>
                <a:latin typeface="Lora" pitchFamily="34" charset="0"/>
                <a:ea typeface="Lora" pitchFamily="34" charset="-122"/>
                <a:cs typeface="Lora" pitchFamily="34" charset="-120"/>
              </a:rPr>
              <a:t>Payment Gateways</a:t>
            </a:r>
            <a:endParaRPr lang="en-US" sz="2000" b="1" dirty="0"/>
          </a:p>
        </p:txBody>
      </p:sp>
      <p:sp>
        <p:nvSpPr>
          <p:cNvPr id="9" name="Text 4"/>
          <p:cNvSpPr/>
          <p:nvPr/>
        </p:nvSpPr>
        <p:spPr>
          <a:xfrm>
            <a:off x="4734878" y="3054429"/>
            <a:ext cx="3648789" cy="1042988"/>
          </a:xfrm>
          <a:prstGeom prst="rect">
            <a:avLst/>
          </a:prstGeom>
          <a:noFill/>
          <a:ln/>
        </p:spPr>
        <p:txBody>
          <a:bodyPr wrap="square" lIns="0" tIns="0" rIns="0" bIns="0" rtlCol="0" anchor="t"/>
          <a:lstStyle/>
          <a:p>
            <a:pPr marL="0" indent="0" algn="ctr">
              <a:lnSpc>
                <a:spcPts val="2700"/>
              </a:lnSpc>
              <a:buNone/>
            </a:pPr>
            <a:r>
              <a:rPr lang="en-US" sz="1700" dirty="0">
                <a:solidFill>
                  <a:srgbClr val="3A3630"/>
                </a:solidFill>
                <a:latin typeface="Source Sans Pro" pitchFamily="34" charset="0"/>
                <a:ea typeface="Source Sans Pro" pitchFamily="34" charset="-122"/>
                <a:cs typeface="Source Sans Pro" pitchFamily="34" charset="-120"/>
              </a:rPr>
              <a:t>Integrating secure payment gateways like Stripe and Razorpay to facilitate seamless and secure transactions.</a:t>
            </a:r>
            <a:endParaRPr lang="en-US" sz="1700" dirty="0"/>
          </a:p>
        </p:txBody>
      </p:sp>
      <p:pic>
        <p:nvPicPr>
          <p:cNvPr id="10" name="Image 3" descr="preencoded.png"/>
          <p:cNvPicPr>
            <a:picLocks noChangeAspect="1"/>
          </p:cNvPicPr>
          <p:nvPr/>
        </p:nvPicPr>
        <p:blipFill>
          <a:blip r:embed="rId6"/>
          <a:stretch>
            <a:fillRect/>
          </a:stretch>
        </p:blipFill>
        <p:spPr>
          <a:xfrm>
            <a:off x="2258735" y="4749165"/>
            <a:ext cx="651748" cy="651748"/>
          </a:xfrm>
          <a:prstGeom prst="rect">
            <a:avLst/>
          </a:prstGeom>
        </p:spPr>
      </p:pic>
      <p:sp>
        <p:nvSpPr>
          <p:cNvPr id="11" name="Text 5"/>
          <p:cNvSpPr/>
          <p:nvPr/>
        </p:nvSpPr>
        <p:spPr>
          <a:xfrm>
            <a:off x="1306711" y="5618083"/>
            <a:ext cx="2555915" cy="319445"/>
          </a:xfrm>
          <a:prstGeom prst="rect">
            <a:avLst/>
          </a:prstGeom>
          <a:noFill/>
          <a:ln/>
        </p:spPr>
        <p:txBody>
          <a:bodyPr wrap="none" lIns="0" tIns="0" rIns="0" bIns="0" rtlCol="0" anchor="t"/>
          <a:lstStyle/>
          <a:p>
            <a:pPr marL="0" indent="0" algn="ctr">
              <a:lnSpc>
                <a:spcPts val="2500"/>
              </a:lnSpc>
              <a:buNone/>
            </a:pPr>
            <a:r>
              <a:rPr lang="en-US" sz="2000" b="1" dirty="0">
                <a:solidFill>
                  <a:srgbClr val="3A3630"/>
                </a:solidFill>
                <a:latin typeface="Lora" pitchFamily="34" charset="0"/>
                <a:ea typeface="Lora" pitchFamily="34" charset="-122"/>
                <a:cs typeface="Lora" pitchFamily="34" charset="-120"/>
              </a:rPr>
              <a:t>AR/VR Feature</a:t>
            </a:r>
            <a:endParaRPr lang="en-US" sz="2000" b="1" dirty="0"/>
          </a:p>
        </p:txBody>
      </p:sp>
      <p:sp>
        <p:nvSpPr>
          <p:cNvPr id="12" name="Text 6"/>
          <p:cNvSpPr/>
          <p:nvPr/>
        </p:nvSpPr>
        <p:spPr>
          <a:xfrm>
            <a:off x="760333" y="6067782"/>
            <a:ext cx="3648670" cy="1042988"/>
          </a:xfrm>
          <a:prstGeom prst="rect">
            <a:avLst/>
          </a:prstGeom>
          <a:noFill/>
          <a:ln/>
        </p:spPr>
        <p:txBody>
          <a:bodyPr wrap="square" lIns="0" tIns="0" rIns="0" bIns="0" rtlCol="0" anchor="t"/>
          <a:lstStyle/>
          <a:p>
            <a:pPr marL="0" indent="0" algn="ctr">
              <a:lnSpc>
                <a:spcPts val="2700"/>
              </a:lnSpc>
              <a:buNone/>
            </a:pPr>
            <a:r>
              <a:rPr lang="en-US" sz="1700" dirty="0">
                <a:solidFill>
                  <a:srgbClr val="3A3630"/>
                </a:solidFill>
                <a:latin typeface="Source Sans Pro" pitchFamily="34" charset="0"/>
                <a:ea typeface="Source Sans Pro" pitchFamily="34" charset="-122"/>
                <a:cs typeface="Source Sans Pro" pitchFamily="34" charset="-120"/>
              </a:rPr>
              <a:t>Introducing an AR/VR feature to allow customers to visualize furniture in their own homes before making a purchase.</a:t>
            </a:r>
            <a:endParaRPr lang="en-US" sz="1700" dirty="0"/>
          </a:p>
        </p:txBody>
      </p:sp>
      <p:pic>
        <p:nvPicPr>
          <p:cNvPr id="13" name="Image 4" descr="preencoded.png"/>
          <p:cNvPicPr>
            <a:picLocks noChangeAspect="1"/>
          </p:cNvPicPr>
          <p:nvPr/>
        </p:nvPicPr>
        <p:blipFill>
          <a:blip r:embed="rId7"/>
          <a:stretch>
            <a:fillRect/>
          </a:stretch>
        </p:blipFill>
        <p:spPr>
          <a:xfrm>
            <a:off x="6233398" y="4749165"/>
            <a:ext cx="651748" cy="651748"/>
          </a:xfrm>
          <a:prstGeom prst="rect">
            <a:avLst/>
          </a:prstGeom>
        </p:spPr>
      </p:pic>
      <p:sp>
        <p:nvSpPr>
          <p:cNvPr id="14" name="Text 7"/>
          <p:cNvSpPr/>
          <p:nvPr/>
        </p:nvSpPr>
        <p:spPr>
          <a:xfrm>
            <a:off x="5281255" y="5618083"/>
            <a:ext cx="2555915" cy="319445"/>
          </a:xfrm>
          <a:prstGeom prst="rect">
            <a:avLst/>
          </a:prstGeom>
          <a:noFill/>
          <a:ln/>
        </p:spPr>
        <p:txBody>
          <a:bodyPr wrap="none" lIns="0" tIns="0" rIns="0" bIns="0" rtlCol="0" anchor="t"/>
          <a:lstStyle/>
          <a:p>
            <a:pPr marL="0" indent="0" algn="ctr">
              <a:lnSpc>
                <a:spcPts val="2500"/>
              </a:lnSpc>
              <a:buNone/>
            </a:pPr>
            <a:r>
              <a:rPr lang="en-US" sz="2000" b="1" dirty="0">
                <a:solidFill>
                  <a:srgbClr val="3A3630"/>
                </a:solidFill>
                <a:latin typeface="Lora" pitchFamily="34" charset="0"/>
                <a:ea typeface="Lora" pitchFamily="34" charset="-122"/>
                <a:cs typeface="Lora" pitchFamily="34" charset="-120"/>
              </a:rPr>
              <a:t>AI Recommendations</a:t>
            </a:r>
            <a:endParaRPr lang="en-US" sz="2000" b="1" dirty="0"/>
          </a:p>
        </p:txBody>
      </p:sp>
      <p:sp>
        <p:nvSpPr>
          <p:cNvPr id="15" name="Text 8"/>
          <p:cNvSpPr/>
          <p:nvPr/>
        </p:nvSpPr>
        <p:spPr>
          <a:xfrm>
            <a:off x="4734878" y="6067782"/>
            <a:ext cx="3648789" cy="1390650"/>
          </a:xfrm>
          <a:prstGeom prst="rect">
            <a:avLst/>
          </a:prstGeom>
          <a:noFill/>
          <a:ln/>
        </p:spPr>
        <p:txBody>
          <a:bodyPr wrap="square" lIns="0" tIns="0" rIns="0" bIns="0" rtlCol="0" anchor="t"/>
          <a:lstStyle/>
          <a:p>
            <a:pPr marL="0" indent="0" algn="ctr">
              <a:lnSpc>
                <a:spcPts val="2700"/>
              </a:lnSpc>
              <a:buNone/>
            </a:pPr>
            <a:r>
              <a:rPr lang="en-US" sz="1700" dirty="0">
                <a:solidFill>
                  <a:srgbClr val="3A3630"/>
                </a:solidFill>
                <a:latin typeface="Source Sans Pro" pitchFamily="34" charset="0"/>
                <a:ea typeface="Source Sans Pro" pitchFamily="34" charset="-122"/>
                <a:cs typeface="Source Sans Pro" pitchFamily="34" charset="-120"/>
              </a:rPr>
              <a:t>Utilizing AI-based recommendation systems to suggest relevant furniture items based on user browsing history and preferences.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2118241"/>
            <a:ext cx="11107341" cy="704017"/>
          </a:xfrm>
          <a:prstGeom prst="rect">
            <a:avLst/>
          </a:prstGeom>
          <a:noFill/>
          <a:ln/>
        </p:spPr>
        <p:txBody>
          <a:bodyPr wrap="none" lIns="0" tIns="0" rIns="0" bIns="0" rtlCol="0" anchor="t"/>
          <a:lstStyle/>
          <a:p>
            <a:pPr marL="0" indent="0">
              <a:lnSpc>
                <a:spcPts val="5500"/>
              </a:lnSpc>
              <a:buNone/>
            </a:pPr>
            <a:r>
              <a:rPr lang="en-US" sz="4400" dirty="0">
                <a:solidFill>
                  <a:srgbClr val="38512F"/>
                </a:solidFill>
                <a:latin typeface="Lora" pitchFamily="34" charset="0"/>
                <a:ea typeface="Lora" pitchFamily="34" charset="-122"/>
                <a:cs typeface="Lora" pitchFamily="34" charset="-120"/>
              </a:rPr>
              <a:t>AI Integration for Personalized Experience</a:t>
            </a:r>
            <a:endParaRPr lang="en-US" sz="4400" dirty="0"/>
          </a:p>
        </p:txBody>
      </p:sp>
      <p:sp>
        <p:nvSpPr>
          <p:cNvPr id="3" name="Text 1"/>
          <p:cNvSpPr/>
          <p:nvPr/>
        </p:nvSpPr>
        <p:spPr>
          <a:xfrm>
            <a:off x="837724" y="3420547"/>
            <a:ext cx="3928586" cy="703898"/>
          </a:xfrm>
          <a:prstGeom prst="rect">
            <a:avLst/>
          </a:prstGeom>
          <a:noFill/>
          <a:ln/>
        </p:spPr>
        <p:txBody>
          <a:bodyPr wrap="square" lIns="0" tIns="0" rIns="0" bIns="0" rtlCol="0" anchor="t"/>
          <a:lstStyle/>
          <a:p>
            <a:pPr marL="0" indent="0">
              <a:lnSpc>
                <a:spcPts val="2750"/>
              </a:lnSpc>
              <a:buNone/>
            </a:pPr>
            <a:r>
              <a:rPr lang="en-US" sz="2200" dirty="0">
                <a:solidFill>
                  <a:srgbClr val="38512F"/>
                </a:solidFill>
                <a:latin typeface="Lora" pitchFamily="34" charset="0"/>
                <a:ea typeface="Lora" pitchFamily="34" charset="-122"/>
                <a:cs typeface="Lora" pitchFamily="34" charset="-120"/>
              </a:rPr>
              <a:t>Personalized Product Recommendations</a:t>
            </a:r>
            <a:endParaRPr lang="en-US" sz="2200" dirty="0"/>
          </a:p>
        </p:txBody>
      </p:sp>
      <p:sp>
        <p:nvSpPr>
          <p:cNvPr id="4" name="Text 2"/>
          <p:cNvSpPr/>
          <p:nvPr/>
        </p:nvSpPr>
        <p:spPr>
          <a:xfrm>
            <a:off x="837724" y="4363760"/>
            <a:ext cx="3928586" cy="1532096"/>
          </a:xfrm>
          <a:prstGeom prst="rect">
            <a:avLst/>
          </a:prstGeom>
          <a:noFill/>
          <a:ln/>
        </p:spPr>
        <p:txBody>
          <a:bodyPr wrap="square" lIns="0" tIns="0" rIns="0" bIns="0" rtlCol="0" anchor="t"/>
          <a:lstStyle/>
          <a:p>
            <a:pPr marL="0" indent="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AI algorithms analyze user behavior and preferences to suggest relevant furniture items, enhancing the shopping experience.</a:t>
            </a:r>
            <a:endParaRPr lang="en-US" sz="1850" dirty="0"/>
          </a:p>
        </p:txBody>
      </p:sp>
      <p:sp>
        <p:nvSpPr>
          <p:cNvPr id="5" name="Text 3"/>
          <p:cNvSpPr/>
          <p:nvPr/>
        </p:nvSpPr>
        <p:spPr>
          <a:xfrm>
            <a:off x="5357813" y="3420547"/>
            <a:ext cx="3928586" cy="703898"/>
          </a:xfrm>
          <a:prstGeom prst="rect">
            <a:avLst/>
          </a:prstGeom>
          <a:noFill/>
          <a:ln/>
        </p:spPr>
        <p:txBody>
          <a:bodyPr wrap="square" lIns="0" tIns="0" rIns="0" bIns="0" rtlCol="0" anchor="t"/>
          <a:lstStyle/>
          <a:p>
            <a:pPr marL="0" indent="0">
              <a:lnSpc>
                <a:spcPts val="2750"/>
              </a:lnSpc>
              <a:buNone/>
            </a:pPr>
            <a:r>
              <a:rPr lang="en-US" sz="2200" dirty="0">
                <a:solidFill>
                  <a:srgbClr val="38512F"/>
                </a:solidFill>
                <a:latin typeface="Lora" pitchFamily="34" charset="0"/>
                <a:ea typeface="Lora" pitchFamily="34" charset="-122"/>
                <a:cs typeface="Lora" pitchFamily="34" charset="-120"/>
              </a:rPr>
              <a:t>Virtual Interior Design Assistance</a:t>
            </a:r>
            <a:endParaRPr lang="en-US" sz="2200" dirty="0"/>
          </a:p>
        </p:txBody>
      </p:sp>
      <p:sp>
        <p:nvSpPr>
          <p:cNvPr id="6" name="Text 4"/>
          <p:cNvSpPr/>
          <p:nvPr/>
        </p:nvSpPr>
        <p:spPr>
          <a:xfrm>
            <a:off x="5357813" y="4363760"/>
            <a:ext cx="3928586" cy="1532096"/>
          </a:xfrm>
          <a:prstGeom prst="rect">
            <a:avLst/>
          </a:prstGeom>
          <a:noFill/>
          <a:ln/>
        </p:spPr>
        <p:txBody>
          <a:bodyPr wrap="square" lIns="0" tIns="0" rIns="0" bIns="0" rtlCol="0" anchor="t"/>
          <a:lstStyle/>
          <a:p>
            <a:pPr marL="0" indent="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AI-powered tools assist users in visualizing furniture in their homes, providing design suggestions and optimizing space utilization.</a:t>
            </a:r>
            <a:endParaRPr lang="en-US" sz="1850" dirty="0"/>
          </a:p>
        </p:txBody>
      </p:sp>
      <p:sp>
        <p:nvSpPr>
          <p:cNvPr id="7" name="Text 5"/>
          <p:cNvSpPr/>
          <p:nvPr/>
        </p:nvSpPr>
        <p:spPr>
          <a:xfrm>
            <a:off x="9877901" y="3420547"/>
            <a:ext cx="3928586" cy="703898"/>
          </a:xfrm>
          <a:prstGeom prst="rect">
            <a:avLst/>
          </a:prstGeom>
          <a:noFill/>
          <a:ln/>
        </p:spPr>
        <p:txBody>
          <a:bodyPr wrap="square" lIns="0" tIns="0" rIns="0" bIns="0" rtlCol="0" anchor="t"/>
          <a:lstStyle/>
          <a:p>
            <a:pPr marL="0" indent="0">
              <a:lnSpc>
                <a:spcPts val="2750"/>
              </a:lnSpc>
              <a:buNone/>
            </a:pPr>
            <a:r>
              <a:rPr lang="en-US" sz="2200" dirty="0">
                <a:solidFill>
                  <a:srgbClr val="38512F"/>
                </a:solidFill>
                <a:latin typeface="Lora" pitchFamily="34" charset="0"/>
                <a:ea typeface="Lora" pitchFamily="34" charset="-122"/>
                <a:cs typeface="Lora" pitchFamily="34" charset="-120"/>
              </a:rPr>
              <a:t>Chatbot Support for Customer Inquiries</a:t>
            </a:r>
            <a:endParaRPr lang="en-US" sz="2200" dirty="0"/>
          </a:p>
        </p:txBody>
      </p:sp>
      <p:sp>
        <p:nvSpPr>
          <p:cNvPr id="8" name="Text 6"/>
          <p:cNvSpPr/>
          <p:nvPr/>
        </p:nvSpPr>
        <p:spPr>
          <a:xfrm>
            <a:off x="9877901" y="4363760"/>
            <a:ext cx="3928586" cy="1532096"/>
          </a:xfrm>
          <a:prstGeom prst="rect">
            <a:avLst/>
          </a:prstGeom>
          <a:noFill/>
          <a:ln/>
        </p:spPr>
        <p:txBody>
          <a:bodyPr wrap="square" lIns="0" tIns="0" rIns="0" bIns="0" rtlCol="0" anchor="t"/>
          <a:lstStyle/>
          <a:p>
            <a:pPr marL="0" indent="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AI-driven chatbots offer instant support, answering common questions and resolving issues quickly, improving customer satisfaction.</a:t>
            </a:r>
            <a:endParaRPr lang="en-US" sz="1850" dirty="0"/>
          </a:p>
        </p:txBody>
      </p:sp>
      <p:sp>
        <p:nvSpPr>
          <p:cNvPr id="9" name="Rectangle 8"/>
          <p:cNvSpPr/>
          <p:nvPr/>
        </p:nvSpPr>
        <p:spPr>
          <a:xfrm>
            <a:off x="12866586" y="7764087"/>
            <a:ext cx="1629295" cy="465513"/>
          </a:xfrm>
          <a:prstGeom prst="rect">
            <a:avLst/>
          </a:prstGeom>
          <a:solidFill>
            <a:srgbClr val="FFF8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1916549"/>
            <a:ext cx="5715000" cy="704017"/>
          </a:xfrm>
          <a:prstGeom prst="rect">
            <a:avLst/>
          </a:prstGeom>
          <a:noFill/>
          <a:ln/>
        </p:spPr>
        <p:txBody>
          <a:bodyPr wrap="none" lIns="0" tIns="0" rIns="0" bIns="0" rtlCol="0" anchor="t"/>
          <a:lstStyle/>
          <a:p>
            <a:pPr marL="0" indent="0">
              <a:lnSpc>
                <a:spcPts val="5500"/>
              </a:lnSpc>
              <a:buNone/>
            </a:pPr>
            <a:r>
              <a:rPr lang="en-US" sz="4400" dirty="0">
                <a:solidFill>
                  <a:srgbClr val="38512F"/>
                </a:solidFill>
                <a:latin typeface="Lora" pitchFamily="34" charset="0"/>
                <a:ea typeface="Lora" pitchFamily="34" charset="-122"/>
                <a:cs typeface="Lora" pitchFamily="34" charset="-120"/>
              </a:rPr>
              <a:t>Conclusion &amp; Contact</a:t>
            </a:r>
            <a:endParaRPr lang="en-US" sz="4400" dirty="0"/>
          </a:p>
        </p:txBody>
      </p:sp>
      <p:sp>
        <p:nvSpPr>
          <p:cNvPr id="4" name="Text 1"/>
          <p:cNvSpPr/>
          <p:nvPr/>
        </p:nvSpPr>
        <p:spPr>
          <a:xfrm>
            <a:off x="837724" y="2979539"/>
            <a:ext cx="7468553" cy="2298144"/>
          </a:xfrm>
          <a:prstGeom prst="rect">
            <a:avLst/>
          </a:prstGeom>
          <a:noFill/>
          <a:ln/>
        </p:spPr>
        <p:txBody>
          <a:bodyPr wrap="square" lIns="0" tIns="0" rIns="0" bIns="0" rtlCol="0" anchor="t"/>
          <a:lstStyle/>
          <a:p>
            <a:pPr marL="0" indent="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Royal Furniture is set to revolutionize the online furniture shopping experience. Our user-friendly platform, combined with future enhancements like AI-driven recommendations and AR/VR visualization, will provide customers with unparalleled convenience and satisfaction. Thank you for considering Royal Furniture as your go-to destination for elegant home furnishings.</a:t>
            </a:r>
            <a:endParaRPr lang="en-US" sz="1850" dirty="0"/>
          </a:p>
        </p:txBody>
      </p:sp>
      <p:sp>
        <p:nvSpPr>
          <p:cNvPr id="5" name="Text 2"/>
          <p:cNvSpPr/>
          <p:nvPr/>
        </p:nvSpPr>
        <p:spPr>
          <a:xfrm>
            <a:off x="837724" y="5546884"/>
            <a:ext cx="7468553" cy="766048"/>
          </a:xfrm>
          <a:prstGeom prst="rect">
            <a:avLst/>
          </a:prstGeom>
          <a:noFill/>
          <a:ln/>
        </p:spPr>
        <p:txBody>
          <a:bodyPr wrap="square" lIns="0" tIns="0" rIns="0" bIns="0" rtlCol="0" anchor="t"/>
          <a:lstStyle/>
          <a:p>
            <a:pPr marL="0" indent="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For further inquiries, please visit our website at </a:t>
            </a:r>
            <a:r>
              <a:rPr lang="en-US" sz="1850" u="sng" dirty="0">
                <a:solidFill>
                  <a:srgbClr val="38512F"/>
                </a:solidFill>
                <a:latin typeface="Source Sans Pro" pitchFamily="34" charset="0"/>
                <a:ea typeface="Source Sans Pro" pitchFamily="34" charset="-122"/>
                <a:cs typeface="Source Sans Pro" pitchFamily="34" charset="-120"/>
                <a:hlinkClick r:id="rId4">
                  <a:extLst>
                    <a:ext uri="{A12FA001-AC4F-418D-AE19-62706E023703}">
                      <ahyp:hlinkClr xmlns:ahyp="http://schemas.microsoft.com/office/drawing/2018/hyperlinkcolor" xmlns="" val="tx"/>
                    </a:ext>
                  </a:extLst>
                </a:hlinkClick>
              </a:rPr>
              <a:t>www.royalfurniture.com</a:t>
            </a:r>
            <a:r>
              <a:rPr lang="en-US" sz="1850" dirty="0">
                <a:solidFill>
                  <a:srgbClr val="3A3630"/>
                </a:solidFill>
                <a:latin typeface="Source Sans Pro" pitchFamily="34" charset="0"/>
                <a:ea typeface="Source Sans Pro" pitchFamily="34" charset="-122"/>
                <a:cs typeface="Source Sans Pro" pitchFamily="34" charset="-120"/>
              </a:rPr>
              <a:t> or contact us via email at </a:t>
            </a:r>
            <a:r>
              <a:rPr lang="en-US" sz="1850" u="sng" dirty="0">
                <a:solidFill>
                  <a:srgbClr val="38512F"/>
                </a:solidFill>
                <a:latin typeface="Source Sans Pro" pitchFamily="34" charset="0"/>
                <a:ea typeface="Source Sans Pro" pitchFamily="34" charset="-122"/>
                <a:cs typeface="Source Sans Pro" pitchFamily="34" charset="-120"/>
                <a:hlinkClick r:id="rId5">
                  <a:extLst>
                    <a:ext uri="{A12FA001-AC4F-418D-AE19-62706E023703}">
                      <ahyp:hlinkClr xmlns:ahyp="http://schemas.microsoft.com/office/drawing/2018/hyperlinkcolor" xmlns="" val="tx"/>
                    </a:ext>
                  </a:extLst>
                </a:hlinkClick>
              </a:rPr>
              <a:t>info@royalfurniture.com</a:t>
            </a:r>
            <a:r>
              <a:rPr lang="en-US" sz="1850" dirty="0">
                <a:solidFill>
                  <a:srgbClr val="3A3630"/>
                </a:solidFill>
                <a:latin typeface="Source Sans Pro" pitchFamily="34" charset="0"/>
                <a:ea typeface="Source Sans Pro" pitchFamily="34" charset="-122"/>
                <a:cs typeface="Source Sans Pro" pitchFamily="34" charset="-120"/>
              </a:rPr>
              <a:t>.</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917" y="3391733"/>
            <a:ext cx="5625888" cy="704017"/>
          </a:xfrm>
          <a:prstGeom prst="rect">
            <a:avLst/>
          </a:prstGeom>
          <a:noFill/>
          <a:ln/>
        </p:spPr>
        <p:txBody>
          <a:bodyPr wrap="none" lIns="0" tIns="0" rIns="0" bIns="0" rtlCol="0" anchor="t"/>
          <a:lstStyle/>
          <a:p>
            <a:pPr marL="0" indent="0" algn="ctr">
              <a:lnSpc>
                <a:spcPts val="5500"/>
              </a:lnSpc>
              <a:buNone/>
            </a:pPr>
            <a:r>
              <a:rPr lang="en-US" sz="8800" dirty="0">
                <a:solidFill>
                  <a:srgbClr val="38512F"/>
                </a:solidFill>
                <a:latin typeface="Lora" pitchFamily="34" charset="0"/>
                <a:ea typeface="Lora" pitchFamily="34" charset="-122"/>
                <a:cs typeface="Lora" pitchFamily="34" charset="-120"/>
              </a:rPr>
              <a:t>       Thank You</a:t>
            </a:r>
            <a:endParaRPr lang="en-US" sz="8800" dirty="0"/>
          </a:p>
        </p:txBody>
      </p:sp>
      <p:sp>
        <p:nvSpPr>
          <p:cNvPr id="4" name="Text 1"/>
          <p:cNvSpPr/>
          <p:nvPr/>
        </p:nvSpPr>
        <p:spPr>
          <a:xfrm>
            <a:off x="5808730" y="4438098"/>
            <a:ext cx="7468553" cy="383024"/>
          </a:xfrm>
          <a:prstGeom prst="rect">
            <a:avLst/>
          </a:prstGeom>
          <a:noFill/>
          <a:ln/>
        </p:spPr>
        <p:txBody>
          <a:bodyPr wrap="none" lIns="0" tIns="0" rIns="0" bIns="0" rtlCol="0" anchor="t"/>
          <a:lstStyle/>
          <a:p>
            <a:pPr marL="0" indent="0" algn="ctr">
              <a:lnSpc>
                <a:spcPts val="3000"/>
              </a:lnSpc>
              <a:buNone/>
            </a:pPr>
            <a:r>
              <a:rPr lang="en-US" sz="2400" dirty="0">
                <a:solidFill>
                  <a:srgbClr val="3A3630"/>
                </a:solidFill>
                <a:latin typeface="Source Sans Pro" pitchFamily="34" charset="0"/>
                <a:ea typeface="Source Sans Pro" pitchFamily="34" charset="-122"/>
                <a:cs typeface="Source Sans Pro" pitchFamily="34" charset="-120"/>
              </a:rPr>
              <a:t>                  Thank you for your time and consideration.</a:t>
            </a:r>
            <a:endParaRPr lang="en-US" sz="2400" dirty="0"/>
          </a:p>
        </p:txBody>
      </p:sp>
      <p:sp>
        <p:nvSpPr>
          <p:cNvPr id="5" name="Rectangle 4"/>
          <p:cNvSpPr/>
          <p:nvPr/>
        </p:nvSpPr>
        <p:spPr>
          <a:xfrm>
            <a:off x="12866586" y="7764087"/>
            <a:ext cx="1629295" cy="465513"/>
          </a:xfrm>
          <a:prstGeom prst="rect">
            <a:avLst/>
          </a:prstGeom>
          <a:solidFill>
            <a:srgbClr val="FFF8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536</Words>
  <Application>Microsoft Office PowerPoint</Application>
  <PresentationFormat>Custom</PresentationFormat>
  <Paragraphs>58</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Lora</vt:lpstr>
      <vt:lpstr>Arial</vt:lpstr>
      <vt:lpstr>Source Sans Pro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4</cp:revision>
  <dcterms:created xsi:type="dcterms:W3CDTF">2025-02-21T16:15:48Z</dcterms:created>
  <dcterms:modified xsi:type="dcterms:W3CDTF">2025-02-21T17:35:37Z</dcterms:modified>
</cp:coreProperties>
</file>